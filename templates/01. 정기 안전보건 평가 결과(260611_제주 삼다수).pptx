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13"/>
  </p:notesMasterIdLst>
  <p:handoutMasterIdLst>
    <p:handoutMasterId r:id="rId14"/>
  </p:handoutMasterIdLst>
  <p:sldIdLst>
    <p:sldId id="1440" r:id="rId2"/>
    <p:sldId id="1441" r:id="rId3"/>
    <p:sldId id="1442" r:id="rId4"/>
    <p:sldId id="1443" r:id="rId5"/>
    <p:sldId id="1446" r:id="rId6"/>
    <p:sldId id="1448" r:id="rId7"/>
    <p:sldId id="1444" r:id="rId8"/>
    <p:sldId id="1445" r:id="rId9"/>
    <p:sldId id="1447" r:id="rId10"/>
    <p:sldId id="1449" r:id="rId11"/>
    <p:sldId id="1450" r:id="rId12"/>
  </p:sldIdLst>
  <p:sldSz cx="9144000" cy="6858000" type="screen4x3"/>
  <p:notesSz cx="6735763" cy="98663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0">
          <p15:clr>
            <a:srgbClr val="A4A3A4"/>
          </p15:clr>
        </p15:guide>
        <p15:guide id="2" pos="2132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  <p15:guide id="5" orient="horz" pos="3101">
          <p15:clr>
            <a:srgbClr val="A4A3A4"/>
          </p15:clr>
        </p15:guide>
        <p15:guide id="6" orient="horz" pos="3108">
          <p15:clr>
            <a:srgbClr val="A4A3A4"/>
          </p15:clr>
        </p15:guide>
        <p15:guide id="7" pos="2113">
          <p15:clr>
            <a:srgbClr val="A4A3A4"/>
          </p15:clr>
        </p15:guide>
        <p15:guide id="8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6165D"/>
    <a:srgbClr val="1D71B8"/>
    <a:srgbClr val="0000FF"/>
    <a:srgbClr val="40BCCF"/>
    <a:srgbClr val="0000CC"/>
    <a:srgbClr val="00B050"/>
    <a:srgbClr val="0066FF"/>
    <a:srgbClr val="0066CC"/>
    <a:srgbClr val="FFFFCC"/>
    <a:srgbClr val="F4E9E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 autoAdjust="0"/>
    <p:restoredTop sz="98843" autoAdjust="0"/>
  </p:normalViewPr>
  <p:slideViewPr>
    <p:cSldViewPr>
      <p:cViewPr varScale="1">
        <p:scale>
          <a:sx n="85" d="100"/>
          <a:sy n="85" d="100"/>
        </p:scale>
        <p:origin x="-1584" y="-72"/>
      </p:cViewPr>
      <p:guideLst>
        <p:guide orient="horz" pos="2160"/>
        <p:guide orient="horz" pos="4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4014" y="-90"/>
      </p:cViewPr>
      <p:guideLst>
        <p:guide orient="horz" pos="3120"/>
        <p:guide orient="horz" pos="3127"/>
        <p:guide orient="horz" pos="3101"/>
        <p:guide orient="horz" pos="3108"/>
        <p:guide pos="2132"/>
        <p:guide pos="2141"/>
        <p:guide pos="2113"/>
        <p:guide pos="2122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8" y="9"/>
            <a:ext cx="2917992" cy="493868"/>
          </a:xfrm>
          <a:prstGeom prst="rect">
            <a:avLst/>
          </a:prstGeom>
        </p:spPr>
        <p:txBody>
          <a:bodyPr vert="horz" lIns="90664" tIns="45332" rIns="90664" bIns="45332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6199" y="9"/>
            <a:ext cx="2917992" cy="493868"/>
          </a:xfrm>
          <a:prstGeom prst="rect">
            <a:avLst/>
          </a:prstGeom>
        </p:spPr>
        <p:txBody>
          <a:bodyPr vert="horz" lIns="90664" tIns="45332" rIns="90664" bIns="45332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4C62072-076A-44C1-8373-018A882BEF9F}" type="datetimeFigureOut">
              <a:rPr lang="ko-KR" altLang="en-US"/>
              <a:pPr>
                <a:defRPr/>
              </a:pPr>
              <a:t>2026-06-11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8" y="9370877"/>
            <a:ext cx="2917992" cy="493867"/>
          </a:xfrm>
          <a:prstGeom prst="rect">
            <a:avLst/>
          </a:prstGeom>
        </p:spPr>
        <p:txBody>
          <a:bodyPr vert="horz" lIns="90664" tIns="45332" rIns="90664" bIns="45332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6199" y="9370877"/>
            <a:ext cx="2917992" cy="493867"/>
          </a:xfrm>
          <a:prstGeom prst="rect">
            <a:avLst/>
          </a:prstGeom>
        </p:spPr>
        <p:txBody>
          <a:bodyPr vert="horz" wrap="square" lIns="90664" tIns="45332" rIns="90664" bIns="4533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C65C12F8-A373-4540-B763-02F9385E467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311540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9"/>
            <a:ext cx="2919565" cy="493868"/>
          </a:xfrm>
          <a:prstGeom prst="rect">
            <a:avLst/>
          </a:prstGeom>
        </p:spPr>
        <p:txBody>
          <a:bodyPr vert="horz" lIns="90635" tIns="45318" rIns="90635" bIns="45318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626" y="9"/>
            <a:ext cx="2919565" cy="493868"/>
          </a:xfrm>
          <a:prstGeom prst="rect">
            <a:avLst/>
          </a:prstGeom>
        </p:spPr>
        <p:txBody>
          <a:bodyPr vert="horz" lIns="90635" tIns="45318" rIns="90635" bIns="45318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C61DAAD-4727-4E61-8878-9FE8B4391953}" type="datetimeFigureOut">
              <a:rPr lang="ko-KR" altLang="en-US"/>
              <a:pPr>
                <a:defRPr/>
              </a:pPr>
              <a:t>2026-06-11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35" tIns="45318" rIns="90635" bIns="45318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262" y="4686232"/>
            <a:ext cx="5389240" cy="4440077"/>
          </a:xfrm>
          <a:prstGeom prst="rect">
            <a:avLst/>
          </a:prstGeom>
        </p:spPr>
        <p:txBody>
          <a:bodyPr vert="horz" lIns="90635" tIns="45318" rIns="90635" bIns="45318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0877"/>
            <a:ext cx="2919565" cy="493867"/>
          </a:xfrm>
          <a:prstGeom prst="rect">
            <a:avLst/>
          </a:prstGeom>
        </p:spPr>
        <p:txBody>
          <a:bodyPr vert="horz" lIns="90635" tIns="45318" rIns="90635" bIns="45318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626" y="9370877"/>
            <a:ext cx="2919565" cy="493867"/>
          </a:xfrm>
          <a:prstGeom prst="rect">
            <a:avLst/>
          </a:prstGeom>
        </p:spPr>
        <p:txBody>
          <a:bodyPr vert="horz" wrap="square" lIns="90635" tIns="45318" rIns="90635" bIns="45318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4615FF2-9CE4-4F44-B936-6C7A4E1F22A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02729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E45AFC-A0D5-4963-B837-19E12537F68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2843808" y="547953"/>
            <a:ext cx="6300192" cy="137927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0" y="547953"/>
            <a:ext cx="2843808" cy="1379274"/>
          </a:xfrm>
          <a:prstGeom prst="rect">
            <a:avLst/>
          </a:prstGeom>
          <a:solidFill>
            <a:srgbClr val="40B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Picture 4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7341556" y="132797"/>
            <a:ext cx="1684759" cy="28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7341556" y="6469962"/>
            <a:ext cx="1684759" cy="28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1986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/>
              <a:t>#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492877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84D4FBF6-84EB-4A94-BEF1-4969C059127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17" name="평행 사변형 16"/>
          <p:cNvSpPr/>
          <p:nvPr userDrawn="1"/>
        </p:nvSpPr>
        <p:spPr>
          <a:xfrm>
            <a:off x="0" y="2334"/>
            <a:ext cx="4283968" cy="432016"/>
          </a:xfrm>
          <a:prstGeom prst="parallelogram">
            <a:avLst>
              <a:gd name="adj" fmla="val 0"/>
            </a:avLst>
          </a:prstGeom>
          <a:solidFill>
            <a:srgbClr val="40B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평행 사변형 17"/>
          <p:cNvSpPr/>
          <p:nvPr userDrawn="1"/>
        </p:nvSpPr>
        <p:spPr>
          <a:xfrm>
            <a:off x="3923928" y="2334"/>
            <a:ext cx="3168352" cy="432016"/>
          </a:xfrm>
          <a:prstGeom prst="parallelogram">
            <a:avLst>
              <a:gd name="adj" fmla="val 78700"/>
            </a:avLst>
          </a:prstGeom>
          <a:solidFill>
            <a:srgbClr val="1D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08" r:id="rId1"/>
    <p:sldLayoutId id="2147485210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0" y="859917"/>
            <a:ext cx="2843808" cy="711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[</a:t>
            </a:r>
            <a:r>
              <a:rPr lang="ko-KR" altLang="en-US" sz="25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제주 </a:t>
            </a:r>
            <a:r>
              <a:rPr lang="ko-KR" altLang="en-US" sz="2500" dirty="0" err="1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삼다수</a:t>
            </a:r>
            <a:r>
              <a:rPr lang="ko-KR" altLang="en-US" sz="25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현장</a:t>
            </a:r>
            <a:r>
              <a:rPr lang="en-US" altLang="ko-KR" sz="25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]</a:t>
            </a:r>
            <a:endParaRPr lang="ko-KR" altLang="en-US" sz="25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843808" y="859917"/>
            <a:ext cx="6300192" cy="711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상반기 정기 안전보건 평가 결과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7668344" y="6436402"/>
            <a:ext cx="1403648" cy="402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Aft>
                <a:spcPts val="300"/>
              </a:spcAft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2026.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06. 11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3908036"/>
              </p:ext>
            </p:extLst>
          </p:nvPr>
        </p:nvGraphicFramePr>
        <p:xfrm>
          <a:off x="2897753" y="3084039"/>
          <a:ext cx="3481785" cy="222283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880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937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31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점검 현장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제주 </a:t>
                      </a:r>
                      <a:r>
                        <a:rPr lang="ko-KR" altLang="en-US" sz="1300" b="0" spc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삼다수</a:t>
                      </a: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endParaRPr lang="en-US" altLang="ko-KR" sz="1300" b="0" spc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스마트 </a:t>
                      </a:r>
                      <a:r>
                        <a:rPr lang="ko-KR" altLang="en-US" sz="1300" b="0" spc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팩토리</a:t>
                      </a: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건립공사 현장</a:t>
                      </a:r>
                      <a:endParaRPr lang="ko-KR" altLang="en-US" sz="1300" b="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1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점검 기간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en-US" altLang="ko-KR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2026.06.10 </a:t>
                      </a:r>
                      <a:r>
                        <a:rPr lang="en-US" altLang="ko-KR" sz="1300" b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~ </a:t>
                      </a:r>
                      <a:r>
                        <a:rPr lang="en-US" altLang="ko-KR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06.11</a:t>
                      </a:r>
                      <a:endParaRPr lang="ko-KR" altLang="en-US" sz="1300" b="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1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점검 인원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ko-KR" altLang="en-US" sz="1300" b="0" spc="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안전보건팀</a:t>
                      </a:r>
                      <a:endParaRPr lang="en-US" altLang="ko-KR" sz="1300" b="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현태완 부장</a:t>
                      </a:r>
                      <a:r>
                        <a:rPr lang="en-US" altLang="ko-KR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, </a:t>
                      </a: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최우람 과장</a:t>
                      </a:r>
                      <a:endParaRPr lang="ko-KR" altLang="en-US" sz="1300" b="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1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안전관계자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ko-KR" altLang="en-US" sz="1300" b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현장소장 </a:t>
                      </a: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시훈 </a:t>
                      </a:r>
                      <a:endParaRPr lang="en-US" altLang="ko-KR" sz="1300" b="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ko-KR" altLang="en-US" sz="1300" b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안전관리자 </a:t>
                      </a:r>
                      <a:r>
                        <a:rPr lang="ko-KR" altLang="en-US" sz="1300" b="0" spc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김원기</a:t>
                      </a:r>
                      <a:endParaRPr lang="ko-KR" altLang="en-US" sz="1300" b="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98405" y="65930"/>
            <a:ext cx="263264" cy="2879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2" name="직사각형 21"/>
          <p:cNvSpPr/>
          <p:nvPr/>
        </p:nvSpPr>
        <p:spPr>
          <a:xfrm>
            <a:off x="357473" y="16934"/>
            <a:ext cx="47654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결과 요약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87517434"/>
              </p:ext>
            </p:extLst>
          </p:nvPr>
        </p:nvGraphicFramePr>
        <p:xfrm>
          <a:off x="234586" y="937354"/>
          <a:ext cx="3041270" cy="133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6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06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현　장　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공사　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제주 </a:t>
                      </a:r>
                      <a:r>
                        <a:rPr lang="ko-KR" altLang="en-US" sz="10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삼다수</a:t>
                      </a:r>
                      <a:endParaRPr lang="en-US" altLang="ko-KR" sz="10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스마트팩토리</a:t>
                      </a:r>
                      <a:r>
                        <a:rPr lang="ko-KR" altLang="en-US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건립공사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25.12.8</a:t>
                      </a:r>
                      <a:r>
                        <a:rPr lang="en-US" altLang="ko-KR" sz="10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~ 27.7.30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공사　금액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공정율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47,316,083,290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19.31 %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682261" y="1366978"/>
            <a:ext cx="1684759" cy="28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90159564"/>
              </p:ext>
            </p:extLst>
          </p:nvPr>
        </p:nvGraphicFramePr>
        <p:xfrm>
          <a:off x="5834276" y="937354"/>
          <a:ext cx="3041270" cy="124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0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712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135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주요　작업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토목공사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내부 사토 정리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철콘공사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물탱크실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,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공장동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콘크리트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타설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1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습식공사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PIT 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벽체 방수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55061528"/>
              </p:ext>
            </p:extLst>
          </p:nvPr>
        </p:nvGraphicFramePr>
        <p:xfrm>
          <a:off x="234586" y="2748599"/>
          <a:ext cx="8640960" cy="1245420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1514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안전보건 서류부문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안전보건 현장부문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가 감점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보정 계수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51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기준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100</a:t>
                      </a:r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50</a:t>
                      </a:r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50</a:t>
                      </a:r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~ ± 3</a:t>
                      </a:r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~ +0.11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51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총점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84.2 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42.4 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41.0 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1.01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54385789"/>
              </p:ext>
            </p:extLst>
          </p:nvPr>
        </p:nvGraphicFramePr>
        <p:xfrm>
          <a:off x="234586" y="4104815"/>
          <a:ext cx="2825246" cy="2276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2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27651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41212279"/>
              </p:ext>
            </p:extLst>
          </p:nvPr>
        </p:nvGraphicFramePr>
        <p:xfrm>
          <a:off x="3142443" y="4104815"/>
          <a:ext cx="2825246" cy="2276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2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27651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41489747"/>
              </p:ext>
            </p:extLst>
          </p:nvPr>
        </p:nvGraphicFramePr>
        <p:xfrm>
          <a:off x="6050300" y="4104815"/>
          <a:ext cx="2825246" cy="2276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2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27651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11776" y="2330026"/>
            <a:ext cx="17281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itchFamily="18" charset="-127"/>
                <a:ea typeface="HY중고딕" pitchFamily="18" charset="-127"/>
              </a:rPr>
              <a:t>□ 점검 결과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1776" y="564485"/>
            <a:ext cx="17281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itchFamily="18" charset="-127"/>
                <a:ea typeface="HY중고딕" pitchFamily="18" charset="-127"/>
              </a:rPr>
              <a:t>□ 현장 개요</a:t>
            </a:r>
          </a:p>
        </p:txBody>
      </p:sp>
      <p:pic>
        <p:nvPicPr>
          <p:cNvPr id="16" name="그림 15" descr="KakaoTalk_20260611_113431094.jpg"/>
          <p:cNvPicPr preferRelativeResize="0"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20807" y="4196217"/>
            <a:ext cx="2664000" cy="2088000"/>
          </a:xfrm>
          <a:prstGeom prst="rect">
            <a:avLst/>
          </a:prstGeom>
        </p:spPr>
      </p:pic>
      <p:pic>
        <p:nvPicPr>
          <p:cNvPr id="18" name="그림 17" descr="KakaoTalk_20260611_113431094_01.jpg"/>
          <p:cNvPicPr preferRelativeResize="0"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2023" y="4193449"/>
            <a:ext cx="2664000" cy="2088000"/>
          </a:xfrm>
          <a:prstGeom prst="rect">
            <a:avLst/>
          </a:prstGeom>
        </p:spPr>
      </p:pic>
      <p:pic>
        <p:nvPicPr>
          <p:cNvPr id="19" name="그림 18" descr="KakaoTalk_20260611_113431094_02.jpg"/>
          <p:cNvPicPr preferRelativeResize="0"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29899" y="4182743"/>
            <a:ext cx="2664000" cy="20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98405" y="65930"/>
            <a:ext cx="263264" cy="2879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22" name="직사각형 21"/>
          <p:cNvSpPr/>
          <p:nvPr/>
        </p:nvSpPr>
        <p:spPr>
          <a:xfrm>
            <a:off x="357473" y="16934"/>
            <a:ext cx="47654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안전보건 서류부문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79513" y="2492894"/>
          <a:ext cx="8784976" cy="381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487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40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4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확인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 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7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현장 </a:t>
                      </a:r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소장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산업안전보건관리비 항목별 사용 내역 중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협력사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안전관리비 세부내역 기재 필요</a:t>
                      </a:r>
                      <a:endParaRPr lang="en-US" altLang="ko-KR" sz="105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l" latinLnBrk="1"/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안전시설비 등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, 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보호구 →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안전망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, 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안전모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, 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안전벨트 외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94.44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829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관리감독자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일일안전당직자</a:t>
                      </a:r>
                      <a:r>
                        <a:rPr lang="ko-KR" altLang="en-US" sz="10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순회점검 실시 필요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78.82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밀폐공간 작업 프로그램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미수립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작업허가서 검토의견 작성 필요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야간작업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인수인계서내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당직자 서명관리 누락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829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안전관리자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현장 안전보건관리규정 근로자대표 서명 누락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85.93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안전보건관리책임자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선임계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작성 미흡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산업안전보건법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15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 직무내용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미반영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산업안전보건관리비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9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번 항목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위험성평가 등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사용시 위험성평가 반영필요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노사협의체회의 심의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.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의결사항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 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안전보건 협의 사항 내용 불일치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38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유소견자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관리 리스트 작성</a:t>
                      </a:r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77908" y="2149713"/>
            <a:ext cx="17281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itchFamily="18" charset="-127"/>
                <a:ea typeface="HY중고딕" pitchFamily="18" charset="-127"/>
              </a:rPr>
              <a:t>□ 주요 확인사항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79512" y="607949"/>
            <a:ext cx="3024336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3" y="663023"/>
          <a:ext cx="2888788" cy="124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8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339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환산 점수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현장 소장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5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9.4 (10</a:t>
                      </a:r>
                      <a:r>
                        <a:rPr lang="ko-KR" altLang="en-US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 만점 기준</a:t>
                      </a:r>
                      <a:r>
                        <a:rPr lang="en-US" altLang="ko-KR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관리감독자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15.8 (20</a:t>
                      </a:r>
                      <a:r>
                        <a:rPr lang="ko-KR" altLang="en-US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 만점 기준</a:t>
                      </a:r>
                      <a:r>
                        <a:rPr lang="en-US" altLang="ko-KR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안전관리자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17.2 (20</a:t>
                      </a:r>
                      <a:r>
                        <a:rPr lang="ko-KR" altLang="en-US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점 만점 기준</a:t>
                      </a:r>
                      <a:r>
                        <a:rPr lang="en-US" altLang="ko-KR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5868144" y="866385"/>
            <a:ext cx="309284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총점 </a:t>
            </a:r>
            <a:r>
              <a:rPr lang="en-US" altLang="ko-KR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:</a:t>
            </a:r>
            <a:r>
              <a:rPr lang="ko-KR" alt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 </a:t>
            </a:r>
            <a:r>
              <a:rPr lang="en-US" altLang="ko-KR" sz="36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42.4</a:t>
            </a:r>
            <a:r>
              <a:rPr lang="ko-KR" alt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점</a:t>
            </a:r>
            <a:endParaRPr lang="en-US" altLang="ko-KR" sz="36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HY중고딕" pitchFamily="18" charset="-127"/>
              <a:ea typeface="HY중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98405" y="65930"/>
            <a:ext cx="263264" cy="2879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22" name="직사각형 21"/>
          <p:cNvSpPr/>
          <p:nvPr/>
        </p:nvSpPr>
        <p:spPr>
          <a:xfrm>
            <a:off x="357473" y="16934"/>
            <a:ext cx="47654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안전보건 현장부문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98086855"/>
              </p:ext>
            </p:extLst>
          </p:nvPr>
        </p:nvGraphicFramePr>
        <p:xfrm>
          <a:off x="179512" y="2259934"/>
          <a:ext cx="8784977" cy="4117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4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40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위험 유형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확인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 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추락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벽체 거푸집 설치 시 각재로 발판 사용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2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추락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계단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안전난간대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미설치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계단 및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단부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난간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2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가설계단 앞 이동통로 확보 필요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적재된 철근자재 이동 要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추락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내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외부 이동통로 설치 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추락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개구부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안전난간대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미설치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크레인 장비 주변 구획설정 및 통제 미흡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테이블쏘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연결 작업선 피복 노출 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재연결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또는 </a:t>
                      </a:r>
                      <a:r>
                        <a:rPr lang="ko-KR" altLang="en-US" sz="10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절연테잎</a:t>
                      </a:r>
                      <a:r>
                        <a:rPr lang="ko-KR" altLang="en-US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사용 절연조치</a:t>
                      </a:r>
                      <a:r>
                        <a:rPr lang="en-US" altLang="ko-KR" sz="10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167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77908" y="1946505"/>
            <a:ext cx="17281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itchFamily="18" charset="-127"/>
                <a:ea typeface="HY중고딕" pitchFamily="18" charset="-127"/>
              </a:rPr>
              <a:t>□ 주요 확인사항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79512" y="616416"/>
            <a:ext cx="2304256" cy="10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02644500"/>
              </p:ext>
            </p:extLst>
          </p:nvPr>
        </p:nvGraphicFramePr>
        <p:xfrm>
          <a:off x="243053" y="671490"/>
          <a:ext cx="2168708" cy="930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3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43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확인 건수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 </a:t>
                      </a:r>
                      <a:r>
                        <a:rPr lang="ko-KR" altLang="en-US" sz="11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흡</a:t>
                      </a:r>
                      <a:endParaRPr lang="ko-KR" altLang="en-US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5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5</a:t>
                      </a:r>
                      <a:endParaRPr lang="en-US" altLang="ko-KR" sz="1050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0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위 험</a:t>
                      </a:r>
                      <a:endParaRPr lang="ko-KR" altLang="en-US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2</a:t>
                      </a:r>
                      <a:endParaRPr lang="en-US" altLang="ko-KR" sz="1050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5868144" y="866385"/>
            <a:ext cx="309284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총점 </a:t>
            </a:r>
            <a:r>
              <a:rPr lang="en-US" altLang="ko-KR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:</a:t>
            </a:r>
            <a:r>
              <a:rPr lang="ko-KR" alt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 </a:t>
            </a:r>
            <a:r>
              <a:rPr lang="en-US" altLang="ko-KR" sz="36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41</a:t>
            </a:r>
            <a:r>
              <a:rPr lang="ko-KR" altLang="en-US" sz="36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HY중고딕" pitchFamily="18" charset="-127"/>
                <a:ea typeface="HY중고딕" pitchFamily="18" charset="-127"/>
              </a:rPr>
              <a:t>점</a:t>
            </a:r>
            <a:endParaRPr lang="en-US" altLang="ko-KR" sz="36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HY중고딕" pitchFamily="18" charset="-127"/>
              <a:ea typeface="HY중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rgbClr val="FF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위 험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rgbClr val="FF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■</a:t>
                      </a:r>
                      <a:endParaRPr lang="ko-KR" altLang="en-US" sz="2000" b="1" dirty="0">
                        <a:solidFill>
                          <a:srgbClr val="FF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벽체 거푸집 설치 시 각재로 발판 사용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0" name="Picture 2" descr="C:\Users\admin\Desktop\안전\260610(제주 삼다수)\사진\1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961" y="2752662"/>
            <a:ext cx="4104456" cy="3024336"/>
          </a:xfrm>
          <a:prstGeom prst="rect">
            <a:avLst/>
          </a:prstGeom>
          <a:noFill/>
        </p:spPr>
      </p:pic>
      <p:sp>
        <p:nvSpPr>
          <p:cNvPr id="11" name="타원 10"/>
          <p:cNvSpPr/>
          <p:nvPr/>
        </p:nvSpPr>
        <p:spPr>
          <a:xfrm rot="18179254">
            <a:off x="2604496" y="3738325"/>
            <a:ext cx="744213" cy="169461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rgbClr val="FF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위 험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rgbClr val="FF0000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■</a:t>
                      </a:r>
                      <a:endParaRPr lang="ko-KR" altLang="en-US" sz="2000" b="1" dirty="0">
                        <a:solidFill>
                          <a:srgbClr val="FF0000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계단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안전난간대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미설치</a:t>
                      </a:r>
                      <a:endParaRPr lang="en-US" altLang="ko-KR" sz="11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계단 및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단부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난간</a:t>
                      </a:r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" name="그림 7" descr="7.jpg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5556" y="2716487"/>
            <a:ext cx="4104000" cy="3024000"/>
          </a:xfrm>
          <a:prstGeom prst="rect">
            <a:avLst/>
          </a:prstGeom>
        </p:spPr>
      </p:pic>
      <p:sp>
        <p:nvSpPr>
          <p:cNvPr id="10" name="타원 9"/>
          <p:cNvSpPr/>
          <p:nvPr/>
        </p:nvSpPr>
        <p:spPr>
          <a:xfrm rot="18179254">
            <a:off x="1960424" y="3902059"/>
            <a:ext cx="1717658" cy="14019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 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흡</a:t>
                      </a:r>
                      <a:endParaRPr lang="ko-KR" altLang="en-US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■</a:t>
                      </a: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가설계단 앞 이동통로 확보 필요</a:t>
                      </a:r>
                      <a:endParaRPr lang="en-US" altLang="ko-KR" sz="11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적재된 철근자재 이동</a:t>
                      </a:r>
                      <a:r>
                        <a:rPr lang="ko-KR" altLang="en-US" sz="11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要</a:t>
                      </a:r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" name="그림 7" descr="4.jpg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7876" y="2744756"/>
            <a:ext cx="4104000" cy="3024000"/>
          </a:xfrm>
          <a:prstGeom prst="rect">
            <a:avLst/>
          </a:prstGeom>
        </p:spPr>
      </p:pic>
      <p:sp>
        <p:nvSpPr>
          <p:cNvPr id="10" name="타원 9"/>
          <p:cNvSpPr/>
          <p:nvPr/>
        </p:nvSpPr>
        <p:spPr>
          <a:xfrm>
            <a:off x="1475656" y="4005064"/>
            <a:ext cx="2952328" cy="432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미흡</a:t>
                      </a:r>
                      <a:endParaRPr lang="ko-KR" altLang="en-US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■</a:t>
                      </a:r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내</a:t>
                      </a:r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외부 이동통로 설치 필요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4" name="Picture 2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876" y="2744756"/>
            <a:ext cx="4104000" cy="30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 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흡</a:t>
                      </a:r>
                      <a:endParaRPr lang="ko-KR" altLang="en-US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■</a:t>
                      </a: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신규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생산동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개구부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안전난간대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미설치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2" name="그림 11" descr="3.jpg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923961" y="2212663"/>
            <a:ext cx="3024000" cy="410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미흡</a:t>
                      </a:r>
                      <a:endParaRPr lang="ko-KR" altLang="en-US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■</a:t>
                      </a:r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크레인 장비 주변 구획설정 및 통제 미흡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6" name="그림 5" descr="6.jpg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2858" y="2751439"/>
            <a:ext cx="4104000" cy="30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107505" y="16934"/>
            <a:ext cx="5015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#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별첨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유해위험사항 조치 요구서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243050" y="578349"/>
          <a:ext cx="1090180" cy="126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4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미흡</a:t>
                      </a:r>
                      <a:endParaRPr lang="ko-KR" altLang="en-US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442327" y="1052736"/>
          <a:ext cx="7522158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45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14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추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락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낙 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충돌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협착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화재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질식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감전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■</a:t>
                      </a:r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5376459"/>
              </p:ext>
            </p:extLst>
          </p:nvPr>
        </p:nvGraphicFramePr>
        <p:xfrm>
          <a:off x="251517" y="2204864"/>
          <a:ext cx="8712972" cy="417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6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0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유해위험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조치 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286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식당동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테이블쏘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연결 작업선 피복 노출</a:t>
                      </a:r>
                      <a:endParaRPr lang="en-US" altLang="ko-KR" sz="11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(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재연결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또는 </a:t>
                      </a:r>
                      <a:r>
                        <a:rPr lang="ko-KR" altLang="en-US" sz="1100" b="1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절연테잎</a:t>
                      </a:r>
                      <a:r>
                        <a:rPr lang="ko-KR" altLang="en-US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 사용 절연조치</a:t>
                      </a:r>
                      <a:r>
                        <a:rPr lang="en-US" altLang="ko-KR" sz="11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중고딕" pitchFamily="18" charset="-127"/>
                          <a:ea typeface="HY중고딕" pitchFamily="18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HY중고딕" pitchFamily="18" charset="-127"/>
                          <a:ea typeface="HY중고딕" pitchFamily="18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HY중고딕" pitchFamily="18" charset="-127"/>
                        <a:ea typeface="HY중고딕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" name="그림 7" descr="2.jpg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2752972"/>
            <a:ext cx="4104000" cy="3024000"/>
          </a:xfrm>
          <a:prstGeom prst="rect">
            <a:avLst/>
          </a:prstGeom>
        </p:spPr>
      </p:pic>
      <p:pic>
        <p:nvPicPr>
          <p:cNvPr id="10" name="그림 9" descr="2.jpg"/>
          <p:cNvPicPr preferRelativeResize="0">
            <a:picLocks/>
          </p:cNvPicPr>
          <p:nvPr/>
        </p:nvPicPr>
        <p:blipFill>
          <a:blip r:embed="rId3" cstate="print"/>
          <a:srcRect l="68473" t="49221" r="26601" b="39060"/>
          <a:stretch>
            <a:fillRect/>
          </a:stretch>
        </p:blipFill>
        <p:spPr>
          <a:xfrm>
            <a:off x="3347408" y="2752972"/>
            <a:ext cx="1152128" cy="108012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타원 10"/>
          <p:cNvSpPr/>
          <p:nvPr/>
        </p:nvSpPr>
        <p:spPr>
          <a:xfrm>
            <a:off x="2987824" y="4221088"/>
            <a:ext cx="57606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3491880" y="3861048"/>
            <a:ext cx="288032" cy="43204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87661</TotalTime>
  <Words>679</Words>
  <Application>Microsoft Office PowerPoint</Application>
  <PresentationFormat>화면 슬라이드 쇼(4:3)</PresentationFormat>
  <Paragraphs>284</Paragraphs>
  <Slides>11</Slides>
  <Notes>10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kc@itvine.co.kr</cp:lastModifiedBy>
  <cp:revision>6070</cp:revision>
  <cp:lastPrinted>2024-12-23T06:03:13Z</cp:lastPrinted>
  <dcterms:created xsi:type="dcterms:W3CDTF">2012-08-16T23:29:11Z</dcterms:created>
  <dcterms:modified xsi:type="dcterms:W3CDTF">2026-06-11T04:06:53Z</dcterms:modified>
</cp:coreProperties>
</file>